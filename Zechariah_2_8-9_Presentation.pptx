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457200" y="2011680"/>
            <a:ext cx="8229600" cy="1371600"/>
          </a:xfrm>
          <a:prstGeom prst="rect">
            <a:avLst/>
          </a:prstGeom>
          <a:noFill/>
        </p:spPr>
        <p:txBody>
          <a:bodyPr wrap="square">
            <a:spAutoFit/>
          </a:bodyPr>
          <a:lstStyle/>
          <a:p>
            <a:pPr algn="ctr">
              <a:defRPr sz="3600" b="1">
                <a:solidFill>
                  <a:srgbClr val="1A3A5C"/>
                </a:solidFill>
              </a:defRPr>
            </a:pPr>
            <a:r>
              <a:t>Zechariah 2:8-9</a:t>
            </a:r>
          </a:p>
        </p:txBody>
      </p:sp>
      <p:sp>
        <p:nvSpPr>
          <p:cNvPr id="3" name="TextBox 2"/>
          <p:cNvSpPr txBox="1"/>
          <p:nvPr/>
        </p:nvSpPr>
        <p:spPr>
          <a:xfrm>
            <a:off x="457200" y="3474720"/>
            <a:ext cx="8229600" cy="914400"/>
          </a:xfrm>
          <a:prstGeom prst="rect">
            <a:avLst/>
          </a:prstGeom>
          <a:noFill/>
        </p:spPr>
        <p:txBody>
          <a:bodyPr wrap="square">
            <a:spAutoFit/>
          </a:bodyPr>
          <a:lstStyle/>
          <a:p>
            <a:pPr algn="ctr">
              <a:defRPr sz="2000">
                <a:solidFill>
                  <a:srgbClr val="8B4513"/>
                </a:solidFill>
              </a:defRPr>
            </a:pPr>
            <a:r>
              <a:t>Connecting to the First War in Human History — Battle of Siddim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Zechariah 2:8-9</a:t>
            </a:r>
          </a:p>
        </p:txBody>
      </p:sp>
      <p:sp>
        <p:nvSpPr>
          <p:cNvPr id="3" name="TextBox 2"/>
          <p:cNvSpPr txBox="1"/>
          <p:nvPr/>
        </p:nvSpPr>
        <p:spPr>
          <a:xfrm>
            <a:off x="457200" y="914400"/>
            <a:ext cx="8229600" cy="2286000"/>
          </a:xfrm>
          <a:prstGeom prst="rect">
            <a:avLst/>
          </a:prstGeom>
          <a:noFill/>
        </p:spPr>
        <p:txBody>
          <a:bodyPr wrap="square">
            <a:spAutoFit/>
          </a:bodyPr>
          <a:lstStyle/>
          <a:p>
            <a:pPr>
              <a:spcAft>
                <a:spcPts val="800"/>
              </a:spcAft>
              <a:defRPr sz="1500" i="1">
                <a:solidFill>
                  <a:srgbClr val="2E5A88"/>
                </a:solidFill>
              </a:defRPr>
            </a:pPr>
            <a:r>
              <a:t>8 For this is what the Lord Almighty says: "After the Glorious One has sent me against the nations that have plundered you—for whoever touches you touches the apple of his eye—</a:t>
            </a:r>
          </a:p>
          <a:p>
            <a:pPr>
              <a:spcAft>
                <a:spcPts val="800"/>
              </a:spcAft>
              <a:defRPr sz="1500" i="1">
                <a:solidFill>
                  <a:srgbClr val="2E5A88"/>
                </a:solidFill>
              </a:defRPr>
            </a:pPr>
            <a:r>
              <a:t>9 I will surely raise my hand against them so that their slaves will plunder them.[b] Then you will know that the Lord Almighty has sent me."</a:t>
            </a:r>
          </a:p>
        </p:txBody>
      </p:sp>
      <p:sp>
        <p:nvSpPr>
          <p:cNvPr id="4" name="TextBox 3"/>
          <p:cNvSpPr txBox="1"/>
          <p:nvPr/>
        </p:nvSpPr>
        <p:spPr>
          <a:xfrm>
            <a:off x="457200" y="3291840"/>
            <a:ext cx="8229600" cy="2743200"/>
          </a:xfrm>
          <a:prstGeom prst="rect">
            <a:avLst/>
          </a:prstGeom>
          <a:noFill/>
        </p:spPr>
        <p:txBody>
          <a:bodyPr wrap="square">
            <a:spAutoFit/>
          </a:bodyPr>
          <a:lstStyle/>
          <a:p>
            <a:pPr>
              <a:spcAft>
                <a:spcPts val="600"/>
              </a:spcAft>
              <a:defRPr sz="1400">
                <a:solidFill>
                  <a:srgbClr val="8B4513"/>
                </a:solidFill>
              </a:defRPr>
            </a:pPr>
            <a:r>
              <a:t>சகரியா 2</a:t>
            </a:r>
          </a:p>
          <a:p>
            <a:pPr>
              <a:spcAft>
                <a:spcPts val="600"/>
              </a:spcAft>
              <a:defRPr sz="1400">
                <a:solidFill>
                  <a:srgbClr val="8B4513"/>
                </a:solidFill>
              </a:defRPr>
            </a:pPr>
            <a:r>
              <a:t>8 பிற்பாடு மகிமையுண்டாகுமென்று சேனைகளின் கர்த்தர் சொல்லுகிறார்; உங்களைக் கொள்ளையிட்ட ஜாதிகளிடத்துக்கு என்னை அனுப்பினார்; உங்களைத் தொடுகிறவன் அவருடைய கண்மணியைத் தொடுகிறான்.</a:t>
            </a:r>
          </a:p>
          <a:p>
            <a:pPr>
              <a:spcAft>
                <a:spcPts val="600"/>
              </a:spcAft>
              <a:defRPr sz="1400">
                <a:solidFill>
                  <a:srgbClr val="8B4513"/>
                </a:solidFill>
              </a:defRPr>
            </a:pPr>
            <a:r>
              <a:t>9 இதோ, நான் என் கையை அவர்களுக்கு விரோதமாக அசைப்பேன்; அதினால் அவர்கள் தங்கள் அடிமைகளுக்குக் கொள்ளையாவார்கள்; அப்பொழுது சேனைகளின் கர்த்தர் என்னை அனுப்பினாரென்று அறிவீர்கள்.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TextBox 1"/>
          <p:cNvSpPr txBox="1"/>
          <p:nvPr/>
        </p:nvSpPr>
        <p:spPr>
          <a:xfrm>
            <a:off x="457200" y="2743200"/>
            <a:ext cx="8229600" cy="1371600"/>
          </a:xfrm>
          <a:prstGeom prst="rect">
            <a:avLst/>
          </a:prstGeom>
          <a:noFill/>
        </p:spPr>
        <p:txBody>
          <a:bodyPr wrap="none">
            <a:spAutoFit/>
          </a:bodyPr>
          <a:lstStyle/>
          <a:p>
            <a:pPr algn="ctr">
              <a:defRPr sz="3200" b="1">
                <a:solidFill>
                  <a:srgbClr val="FFFFFF"/>
                </a:solidFill>
              </a:defRPr>
            </a:pPr>
            <a:r>
              <a:t>Connecting to the First War in Human being History</a:t>
            </a:r>
            <a:br/>
            <a:r>
              <a:t>Battle of Siddim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731520"/>
          </a:xfrm>
          <a:prstGeom prst="rect">
            <a:avLst/>
          </a:prstGeom>
          <a:noFill/>
        </p:spPr>
        <p:txBody>
          <a:bodyPr wrap="none">
            <a:spAutoFit/>
          </a:bodyPr>
          <a:lstStyle/>
          <a:p>
            <a:pPr>
              <a:defRPr sz="2400" b="1">
                <a:solidFill>
                  <a:srgbClr val="1A3A5C"/>
                </a:solidFill>
              </a:defRPr>
            </a:pPr>
            <a:r>
              <a:t>SIDE 1 — The 4 Kings (The Aggressors / Eastern Coalition)</a:t>
            </a:r>
          </a:p>
        </p:txBody>
      </p:sp>
      <p:sp>
        <p:nvSpPr>
          <p:cNvPr id="3" name="TextBox 2"/>
          <p:cNvSpPr txBox="1"/>
          <p:nvPr/>
        </p:nvSpPr>
        <p:spPr>
          <a:xfrm>
            <a:off x="457200" y="1005840"/>
            <a:ext cx="8229600" cy="5303520"/>
          </a:xfrm>
          <a:prstGeom prst="rect">
            <a:avLst/>
          </a:prstGeom>
          <a:noFill/>
        </p:spPr>
        <p:txBody>
          <a:bodyPr wrap="square">
            <a:spAutoFit/>
          </a:bodyPr>
          <a:lstStyle/>
          <a:p>
            <a:pPr>
              <a:spcAft>
                <a:spcPts val="600"/>
              </a:spcAft>
              <a:defRPr sz="1400" b="0">
                <a:solidFill>
                  <a:srgbClr val="333333"/>
                </a:solidFill>
              </a:defRPr>
            </a:pPr>
            <a:r>
              <a:t>These were large, established empires from Mesopotamia:</a:t>
            </a:r>
          </a:p>
          <a:p>
            <a:pPr>
              <a:spcAft>
                <a:spcPts val="600"/>
              </a:spcAft>
              <a:defRPr sz="1400" b="1">
                <a:solidFill>
                  <a:srgbClr val="1A3A5C"/>
                </a:solidFill>
              </a:defRPr>
            </a:pPr>
            <a:r>
              <a:t>1. Chedorlaomer — King of Elam (present-day southwest Iran)</a:t>
            </a:r>
          </a:p>
          <a:p>
            <a:pPr>
              <a:spcAft>
                <a:spcPts val="600"/>
              </a:spcAft>
              <a:defRPr sz="1400" b="0">
                <a:solidFill>
                  <a:srgbClr val="333333"/>
                </a:solidFill>
              </a:defRPr>
            </a:pPr>
            <a:r>
              <a:t>The leader of the coalition. His name in Elamite is Kudur-Lagomer. Elam was the dominant superpower of the era — its empire stretched from the Caspian Sea in the north to the Persian Gulf in the south, and its diplomatic and military reach extended all the way west into Syria and the Levant. This was the mightiest empire of the ancient Near East at that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731520"/>
          </a:xfrm>
          <a:prstGeom prst="rect">
            <a:avLst/>
          </a:prstGeom>
          <a:noFill/>
        </p:spPr>
        <p:txBody>
          <a:bodyPr wrap="none">
            <a:spAutoFit/>
          </a:bodyPr>
          <a:lstStyle/>
          <a:p>
            <a:pPr>
              <a:defRPr sz="2400" b="1">
                <a:solidFill>
                  <a:srgbClr val="1A3A5C"/>
                </a:solidFill>
              </a:defRPr>
            </a:pPr>
            <a:r>
              <a:t>SIDE 1 — The 4 Kings (continued)</a:t>
            </a:r>
          </a:p>
        </p:txBody>
      </p:sp>
      <p:sp>
        <p:nvSpPr>
          <p:cNvPr id="3" name="TextBox 2"/>
          <p:cNvSpPr txBox="1"/>
          <p:nvPr/>
        </p:nvSpPr>
        <p:spPr>
          <a:xfrm>
            <a:off x="457200" y="1005840"/>
            <a:ext cx="8229600" cy="5303520"/>
          </a:xfrm>
          <a:prstGeom prst="rect">
            <a:avLst/>
          </a:prstGeom>
          <a:noFill/>
        </p:spPr>
        <p:txBody>
          <a:bodyPr wrap="square">
            <a:spAutoFit/>
          </a:bodyPr>
          <a:lstStyle/>
          <a:p>
            <a:pPr>
              <a:spcAft>
                <a:spcPts val="600"/>
              </a:spcAft>
              <a:defRPr sz="1300" b="1">
                <a:solidFill>
                  <a:srgbClr val="1A3A5C"/>
                </a:solidFill>
              </a:defRPr>
            </a:pPr>
            <a:r>
              <a:t>2. Amraphel — King of Shinar (Sumer / Babylon)</a:t>
            </a:r>
          </a:p>
          <a:p>
            <a:pPr>
              <a:spcAft>
                <a:spcPts val="600"/>
              </a:spcAft>
              <a:defRPr sz="1300" b="0">
                <a:solidFill>
                  <a:srgbClr val="333333"/>
                </a:solidFill>
              </a:defRPr>
            </a:pPr>
            <a:r>
              <a:t>"Shinar" is the Bible's name for Sumer, the civilisation of Mesopotamia that produced Babylon. The article makes a fascinating connection — Amraphel may be identified with Hammurabi, the famous Babylonian king. The Semitic form of his name (Amurapi-ili) closely matches the Hebrew Amraphel. He was at this stage still a relatively minor regional ruler who called the king of Elam his "father."</a:t>
            </a:r>
          </a:p>
          <a:p>
            <a:pPr>
              <a:spcAft>
                <a:spcPts val="600"/>
              </a:spcAft>
              <a:defRPr sz="1300" b="1">
                <a:solidFill>
                  <a:srgbClr val="1A3A5C"/>
                </a:solidFill>
              </a:defRPr>
            </a:pPr>
            <a:r>
              <a:t>3. Arioch — King of Ellasar (Larsa)</a:t>
            </a:r>
          </a:p>
          <a:p>
            <a:pPr>
              <a:spcAft>
                <a:spcPts val="600"/>
              </a:spcAft>
              <a:defRPr sz="1300" b="0">
                <a:solidFill>
                  <a:srgbClr val="333333"/>
                </a:solidFill>
              </a:defRPr>
            </a:pPr>
            <a:r>
              <a:t>Ellasar is identified as the ancient kingdom of Larsa, which existed only for about 150 years during the 19th century BC. Arioch's name matches the last known king of Larsa — Rim-Sin I, whose Semitic name is Eri-aku. The article argues this is a strong historical identification.</a:t>
            </a:r>
          </a:p>
          <a:p>
            <a:pPr>
              <a:spcAft>
                <a:spcPts val="600"/>
              </a:spcAft>
              <a:defRPr sz="1300" b="1">
                <a:solidFill>
                  <a:srgbClr val="1A3A5C"/>
                </a:solidFill>
              </a:defRPr>
            </a:pPr>
            <a:r>
              <a:t>4. Tidal — King of Goiim (Hittites / "Nations")</a:t>
            </a:r>
          </a:p>
          <a:p>
            <a:pPr>
              <a:spcAft>
                <a:spcPts val="600"/>
              </a:spcAft>
              <a:defRPr sz="1300" b="0">
                <a:solidFill>
                  <a:srgbClr val="333333"/>
                </a:solidFill>
              </a:defRPr>
            </a:pPr>
            <a:r>
              <a:t>Goiim simply means "nations" or "peoples" in Hebrew. Tidal is a recognised Hittite name — Tudhalia — and the Hittite empire in modern-day Turkey was a confederation of many different tribes and peoples, which is why its king was called "king of nations." A mysterious proto-Tudhalia figure from the 19th–17th centuries BC is the likely match.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731520"/>
          </a:xfrm>
          <a:prstGeom prst="rect">
            <a:avLst/>
          </a:prstGeom>
          <a:noFill/>
        </p:spPr>
        <p:txBody>
          <a:bodyPr wrap="none">
            <a:spAutoFit/>
          </a:bodyPr>
          <a:lstStyle/>
          <a:p>
            <a:pPr>
              <a:defRPr sz="2400" b="1">
                <a:solidFill>
                  <a:srgbClr val="1A3A5C"/>
                </a:solidFill>
              </a:defRPr>
            </a:pPr>
            <a:r>
              <a:t>SIDE 2 — The 5 Kings (The Defenders / Jordan Valley City-States)</a:t>
            </a:r>
          </a:p>
        </p:txBody>
      </p:sp>
      <p:sp>
        <p:nvSpPr>
          <p:cNvPr id="3" name="TextBox 2"/>
          <p:cNvSpPr txBox="1"/>
          <p:nvPr/>
        </p:nvSpPr>
        <p:spPr>
          <a:xfrm>
            <a:off x="457200" y="1005840"/>
            <a:ext cx="8229600" cy="5303520"/>
          </a:xfrm>
          <a:prstGeom prst="rect">
            <a:avLst/>
          </a:prstGeom>
          <a:noFill/>
        </p:spPr>
        <p:txBody>
          <a:bodyPr wrap="square">
            <a:spAutoFit/>
          </a:bodyPr>
          <a:lstStyle/>
          <a:p>
            <a:pPr>
              <a:spcAft>
                <a:spcPts val="600"/>
              </a:spcAft>
              <a:defRPr sz="1500" b="0">
                <a:solidFill>
                  <a:srgbClr val="333333"/>
                </a:solidFill>
              </a:defRPr>
            </a:pPr>
            <a:r>
              <a:t>These were small, weak city-states in the region of the Dead Sea that had been paying tribute to Chedorlaomer for 13 years:</a:t>
            </a:r>
          </a:p>
          <a:p>
            <a:pPr>
              <a:spcAft>
                <a:spcPts val="600"/>
              </a:spcAft>
              <a:defRPr sz="1500" b="0">
                <a:solidFill>
                  <a:srgbClr val="333333"/>
                </a:solidFill>
              </a:defRPr>
            </a:pPr>
            <a:r>
              <a:t>King	City</a:t>
            </a:r>
          </a:p>
          <a:p>
            <a:pPr>
              <a:spcAft>
                <a:spcPts val="600"/>
              </a:spcAft>
              <a:defRPr sz="1500" b="0">
                <a:solidFill>
                  <a:srgbClr val="333333"/>
                </a:solidFill>
              </a:defRPr>
            </a:pPr>
            <a:r>
              <a:t>Bera	Sodom</a:t>
            </a:r>
          </a:p>
          <a:p>
            <a:pPr>
              <a:spcAft>
                <a:spcPts val="600"/>
              </a:spcAft>
              <a:defRPr sz="1500" b="0">
                <a:solidFill>
                  <a:srgbClr val="333333"/>
                </a:solidFill>
              </a:defRPr>
            </a:pPr>
            <a:r>
              <a:t>Birsha	Gomorrah</a:t>
            </a:r>
          </a:p>
          <a:p>
            <a:pPr>
              <a:spcAft>
                <a:spcPts val="600"/>
              </a:spcAft>
              <a:defRPr sz="1500" b="0">
                <a:solidFill>
                  <a:srgbClr val="333333"/>
                </a:solidFill>
              </a:defRPr>
            </a:pPr>
            <a:r>
              <a:t>Shinab	Admah</a:t>
            </a:r>
          </a:p>
          <a:p>
            <a:pPr>
              <a:spcAft>
                <a:spcPts val="600"/>
              </a:spcAft>
              <a:defRPr sz="1500" b="0">
                <a:solidFill>
                  <a:srgbClr val="333333"/>
                </a:solidFill>
              </a:defRPr>
            </a:pPr>
            <a:r>
              <a:t>Shemeber	Zeboiim</a:t>
            </a:r>
          </a:p>
          <a:p>
            <a:pPr>
              <a:spcAft>
                <a:spcPts val="600"/>
              </a:spcAft>
              <a:defRPr sz="1500" b="0">
                <a:solidFill>
                  <a:srgbClr val="333333"/>
                </a:solidFill>
              </a:defRPr>
            </a:pPr>
            <a:r>
              <a:t>Unnamed	Bela / Zoar</a:t>
            </a:r>
          </a:p>
          <a:p>
            <a:pPr>
              <a:spcAft>
                <a:spcPts val="600"/>
              </a:spcAft>
              <a:defRPr sz="1500" b="0">
                <a:solidFill>
                  <a:srgbClr val="333333"/>
                </a:solidFill>
              </a:defRPr>
            </a:pPr>
          </a:p>
          <a:p>
            <a:pPr>
              <a:spcAft>
                <a:spcPts val="600"/>
              </a:spcAft>
              <a:defRPr sz="1500" b="0">
                <a:solidFill>
                  <a:srgbClr val="333333"/>
                </a:solidFill>
              </a:defRPr>
            </a:pPr>
            <a:r>
              <a:t>In the 13th year of their oppression, these five kings rebelled and refused to pay tribute — which triggered the entire invasion.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731520"/>
          </a:xfrm>
          <a:prstGeom prst="rect">
            <a:avLst/>
          </a:prstGeom>
          <a:noFill/>
        </p:spPr>
        <p:txBody>
          <a:bodyPr wrap="none">
            <a:spAutoFit/>
          </a:bodyPr>
          <a:lstStyle/>
          <a:p>
            <a:pPr>
              <a:defRPr sz="2400" b="1">
                <a:solidFill>
                  <a:srgbClr val="1A3A5C"/>
                </a:solidFill>
              </a:defRPr>
            </a:pPr>
            <a:r>
              <a:t>What Happened Before the Main Battle — The March Through the Levant</a:t>
            </a:r>
          </a:p>
        </p:txBody>
      </p:sp>
      <p:sp>
        <p:nvSpPr>
          <p:cNvPr id="3" name="TextBox 2"/>
          <p:cNvSpPr txBox="1"/>
          <p:nvPr/>
        </p:nvSpPr>
        <p:spPr>
          <a:xfrm>
            <a:off x="457200" y="1005840"/>
            <a:ext cx="8229600" cy="5303520"/>
          </a:xfrm>
          <a:prstGeom prst="rect">
            <a:avLst/>
          </a:prstGeom>
          <a:noFill/>
        </p:spPr>
        <p:txBody>
          <a:bodyPr wrap="square">
            <a:spAutoFit/>
          </a:bodyPr>
          <a:lstStyle/>
          <a:p>
            <a:pPr>
              <a:spcAft>
                <a:spcPts val="600"/>
              </a:spcAft>
              <a:defRPr sz="1400" b="0">
                <a:solidFill>
                  <a:srgbClr val="333333"/>
                </a:solidFill>
              </a:defRPr>
            </a:pPr>
            <a:r>
              <a:t>Before even reaching the Jordan Valley, Chedorlaomer's coalition swept through the entire Levant in a devastating campaign, attacking multiple peoples along the way. According to Genesis 14:5-7, they destroyed:</a:t>
            </a:r>
          </a:p>
          <a:p>
            <a:pPr>
              <a:spcAft>
                <a:spcPts val="600"/>
              </a:spcAft>
              <a:defRPr sz="1400" b="0">
                <a:solidFill>
                  <a:srgbClr val="333333"/>
                </a:solidFill>
              </a:defRPr>
            </a:pPr>
            <a:r>
              <a:t>• The Rephaim at Ashteroth-karnaim</a:t>
            </a:r>
          </a:p>
          <a:p>
            <a:pPr>
              <a:spcAft>
                <a:spcPts val="600"/>
              </a:spcAft>
              <a:defRPr sz="1400" b="0">
                <a:solidFill>
                  <a:srgbClr val="333333"/>
                </a:solidFill>
              </a:defRPr>
            </a:pPr>
            <a:r>
              <a:t>• The Zuzim at Ham</a:t>
            </a:r>
          </a:p>
          <a:p>
            <a:pPr>
              <a:spcAft>
                <a:spcPts val="600"/>
              </a:spcAft>
              <a:defRPr sz="1400" b="0">
                <a:solidFill>
                  <a:srgbClr val="333333"/>
                </a:solidFill>
              </a:defRPr>
            </a:pPr>
            <a:r>
              <a:t>• The Emim in the plain of Kiriathaim</a:t>
            </a:r>
          </a:p>
          <a:p>
            <a:pPr>
              <a:spcAft>
                <a:spcPts val="600"/>
              </a:spcAft>
              <a:defRPr sz="1400" b="0">
                <a:solidFill>
                  <a:srgbClr val="333333"/>
                </a:solidFill>
              </a:defRPr>
            </a:pPr>
            <a:r>
              <a:t>• The Horites in the hill country of Seir</a:t>
            </a:r>
          </a:p>
          <a:p>
            <a:pPr>
              <a:spcAft>
                <a:spcPts val="600"/>
              </a:spcAft>
              <a:defRPr sz="1400" b="0">
                <a:solidFill>
                  <a:srgbClr val="333333"/>
                </a:solidFill>
              </a:defRPr>
            </a:pPr>
            <a:r>
              <a:t>• The Amalekites</a:t>
            </a:r>
          </a:p>
          <a:p>
            <a:pPr>
              <a:spcAft>
                <a:spcPts val="600"/>
              </a:spcAft>
              <a:defRPr sz="1400" b="0">
                <a:solidFill>
                  <a:srgbClr val="333333"/>
                </a:solidFill>
              </a:defRPr>
            </a:pPr>
            <a:r>
              <a:t>• The western Amorites</a:t>
            </a:r>
          </a:p>
          <a:p>
            <a:pPr>
              <a:spcAft>
                <a:spcPts val="600"/>
              </a:spcAft>
              <a:defRPr sz="1400" b="0">
                <a:solidFill>
                  <a:srgbClr val="333333"/>
                </a:solidFill>
              </a:defRPr>
            </a:pPr>
          </a:p>
          <a:p>
            <a:pPr>
              <a:spcAft>
                <a:spcPts val="600"/>
              </a:spcAft>
              <a:defRPr sz="1400" b="0">
                <a:solidFill>
                  <a:srgbClr val="333333"/>
                </a:solidFill>
              </a:defRPr>
            </a:pPr>
            <a:r>
              <a:t>This was a systematic military campaign of maximum destruction across the entire region before they even engaged the five kings.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731520"/>
          </a:xfrm>
          <a:prstGeom prst="rect">
            <a:avLst/>
          </a:prstGeom>
          <a:noFill/>
        </p:spPr>
        <p:txBody>
          <a:bodyPr wrap="none">
            <a:spAutoFit/>
          </a:bodyPr>
          <a:lstStyle/>
          <a:p>
            <a:pPr>
              <a:defRPr sz="2400" b="1">
                <a:solidFill>
                  <a:srgbClr val="1A3A5C"/>
                </a:solidFill>
              </a:defRPr>
            </a:pPr>
            <a:r>
              <a:t>Who Are the Giants? — The Rephaim and Emim</a:t>
            </a:r>
          </a:p>
        </p:txBody>
      </p:sp>
      <p:sp>
        <p:nvSpPr>
          <p:cNvPr id="3" name="TextBox 2"/>
          <p:cNvSpPr txBox="1"/>
          <p:nvPr/>
        </p:nvSpPr>
        <p:spPr>
          <a:xfrm>
            <a:off x="457200" y="1005840"/>
            <a:ext cx="8229600" cy="5303520"/>
          </a:xfrm>
          <a:prstGeom prst="rect">
            <a:avLst/>
          </a:prstGeom>
          <a:noFill/>
        </p:spPr>
        <p:txBody>
          <a:bodyPr wrap="square">
            <a:spAutoFit/>
          </a:bodyPr>
          <a:lstStyle/>
          <a:p>
            <a:pPr>
              <a:spcAft>
                <a:spcPts val="600"/>
              </a:spcAft>
              <a:defRPr sz="1300" b="0">
                <a:solidFill>
                  <a:srgbClr val="333333"/>
                </a:solidFill>
              </a:defRPr>
            </a:pPr>
            <a:r>
              <a:t>This is crucial and the article touches on it. The peoples destroyed in Genesis 14:5-6 were no ordinary tribes:</a:t>
            </a:r>
          </a:p>
          <a:p>
            <a:pPr>
              <a:spcAft>
                <a:spcPts val="600"/>
              </a:spcAft>
              <a:defRPr sz="1300" b="1">
                <a:solidFill>
                  <a:srgbClr val="1A3A5C"/>
                </a:solidFill>
              </a:defRPr>
            </a:pPr>
            <a:r>
              <a:t>The Rephaim</a:t>
            </a:r>
          </a:p>
          <a:p>
            <a:pPr>
              <a:spcAft>
                <a:spcPts val="600"/>
              </a:spcAft>
              <a:defRPr sz="1300" b="0">
                <a:solidFill>
                  <a:srgbClr val="333333"/>
                </a:solidFill>
              </a:defRPr>
            </a:pPr>
            <a:r>
              <a:t>The Hebrew word Rephaim refers to a race of giants. They appear throughout the Old Testament as a fearsome giant people. In Deuteronomy 2:11, the Emim are described as "a people great and tall as the Anakim" — the same Anakim that terrified the 12 Israelite spies centuries later (Numbers 13:33). The Rephaim are also connected to Og, king of Bashan, whose bed was 9 cubits long (roughly 4 metres). They were a warrior race of enormous physical stature.</a:t>
            </a:r>
          </a:p>
          <a:p>
            <a:pPr>
              <a:spcAft>
                <a:spcPts val="600"/>
              </a:spcAft>
              <a:defRPr sz="1300" b="1">
                <a:solidFill>
                  <a:srgbClr val="1A3A5C"/>
                </a:solidFill>
              </a:defRPr>
            </a:pPr>
            <a:r>
              <a:t>The Emim</a:t>
            </a:r>
          </a:p>
          <a:p>
            <a:pPr>
              <a:spcAft>
                <a:spcPts val="600"/>
              </a:spcAft>
              <a:defRPr sz="1300" b="0">
                <a:solidFill>
                  <a:srgbClr val="333333"/>
                </a:solidFill>
              </a:defRPr>
            </a:pPr>
            <a:r>
              <a:t>Their name literally means "the terrifying ones" or "the fearsome ones." Deuteronomy 2:10-11 describes them as tall as the Anakim, which is the same category of giant people. They were the original inhabitants of the land of Moab before being displaced.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731520"/>
          </a:xfrm>
          <a:prstGeom prst="rect">
            <a:avLst/>
          </a:prstGeom>
          <a:noFill/>
        </p:spPr>
        <p:txBody>
          <a:bodyPr wrap="none">
            <a:spAutoFit/>
          </a:bodyPr>
          <a:lstStyle/>
          <a:p>
            <a:pPr>
              <a:defRPr sz="2400" b="1">
                <a:solidFill>
                  <a:srgbClr val="1A3A5C"/>
                </a:solidFill>
              </a:defRPr>
            </a:pPr>
            <a:r>
              <a:t>Who Are the Giants? (continued)</a:t>
            </a:r>
          </a:p>
        </p:txBody>
      </p:sp>
      <p:sp>
        <p:nvSpPr>
          <p:cNvPr id="3" name="TextBox 2"/>
          <p:cNvSpPr txBox="1"/>
          <p:nvPr/>
        </p:nvSpPr>
        <p:spPr>
          <a:xfrm>
            <a:off x="457200" y="1005840"/>
            <a:ext cx="8229600" cy="5303520"/>
          </a:xfrm>
          <a:prstGeom prst="rect">
            <a:avLst/>
          </a:prstGeom>
          <a:noFill/>
        </p:spPr>
        <p:txBody>
          <a:bodyPr wrap="square">
            <a:spAutoFit/>
          </a:bodyPr>
          <a:lstStyle/>
          <a:p>
            <a:pPr>
              <a:spcAft>
                <a:spcPts val="600"/>
              </a:spcAft>
              <a:defRPr sz="1400" b="1">
                <a:solidFill>
                  <a:srgbClr val="1A3A5C"/>
                </a:solidFill>
              </a:defRPr>
            </a:pPr>
            <a:r>
              <a:t>The Zuzim (also called Zamzummim)</a:t>
            </a:r>
          </a:p>
          <a:p>
            <a:pPr>
              <a:spcAft>
                <a:spcPts val="600"/>
              </a:spcAft>
              <a:defRPr sz="1400" b="0">
                <a:solidFill>
                  <a:srgbClr val="333333"/>
                </a:solidFill>
              </a:defRPr>
            </a:pPr>
            <a:r>
              <a:t>Another giant people group, also described in Deuteronomy 2:20 as "a people great and numerous and tall as the Anakim."</a:t>
            </a:r>
          </a:p>
          <a:p>
            <a:pPr>
              <a:spcAft>
                <a:spcPts val="600"/>
              </a:spcAft>
              <a:defRPr sz="1400" b="1">
                <a:solidFill>
                  <a:srgbClr val="1A3A5C"/>
                </a:solidFill>
              </a:defRPr>
            </a:pPr>
            <a:r>
              <a:t>The Horites</a:t>
            </a:r>
          </a:p>
          <a:p>
            <a:pPr>
              <a:spcAft>
                <a:spcPts val="600"/>
              </a:spcAft>
              <a:defRPr sz="1400" b="0">
                <a:solidFill>
                  <a:srgbClr val="333333"/>
                </a:solidFill>
              </a:defRPr>
            </a:pPr>
            <a:r>
              <a:t>Inhabitants of the mountain of Seir, later displaced by the descendants of Esau.</a:t>
            </a:r>
          </a:p>
          <a:p>
            <a:pPr>
              <a:spcAft>
                <a:spcPts val="600"/>
              </a:spcAft>
              <a:defRPr sz="1400" b="0">
                <a:solidFill>
                  <a:srgbClr val="333333"/>
                </a:solidFill>
              </a:defRPr>
            </a:pPr>
          </a:p>
          <a:p>
            <a:pPr>
              <a:spcAft>
                <a:spcPts val="600"/>
              </a:spcAft>
              <a:defRPr sz="1400" b="0">
                <a:solidFill>
                  <a:srgbClr val="333333"/>
                </a:solidFill>
              </a:defRPr>
            </a:pPr>
            <a:r>
              <a:t>So when Chedorlaomer and his coalition swept through the Levant on their way to the Jordan Valley, they were not just crushing small villages — they were destroying entire nations of giant warrior peoples that no one else had been able to conquer. This makes their military power even more staggering, and makes Abraham's eventual defeat of them even more extraordinary.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Summary in One Paragraph</a:t>
            </a:r>
          </a:p>
        </p:txBody>
      </p:sp>
      <p:sp>
        <p:nvSpPr>
          <p:cNvPr id="3" name="TextBox 2"/>
          <p:cNvSpPr txBox="1"/>
          <p:nvPr/>
        </p:nvSpPr>
        <p:spPr>
          <a:xfrm>
            <a:off x="457200" y="914400"/>
            <a:ext cx="8229600" cy="5303520"/>
          </a:xfrm>
          <a:prstGeom prst="rect">
            <a:avLst/>
          </a:prstGeom>
          <a:noFill/>
        </p:spPr>
        <p:txBody>
          <a:bodyPr wrap="square">
            <a:spAutoFit/>
          </a:bodyPr>
          <a:lstStyle/>
          <a:p>
            <a:pPr>
              <a:spcAft>
                <a:spcPts val="1000"/>
              </a:spcAft>
              <a:defRPr sz="1400">
                <a:solidFill>
                  <a:srgbClr val="333333"/>
                </a:solidFill>
              </a:defRPr>
            </a:pPr>
            <a:r>
              <a:t>Four eastern superpowers — led by the Elamite empire under Chedorlaomer — crushed five small Jordan Valley city-states that had rebelled after 13 years of paying tribute. On the way, they destroyed entire nations of giant warrior peoples including the Rephaim, Emim and Zuzim. They plundered Sodom and Gomorrah and took captives including Lot. Abraham then pursued them 200 kilometres with 318 household servants, launched a night guerrilla attack with divided forces, and utterly defeated all four armies. Every captive was freed. The victory was so complete that it may have triggered the collapse of the Elamite empire and the rise of Babylon — making a private rescue mission by one man the event that reshaped the entire ancient world.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The Wider Significance the Article Highlights</a:t>
            </a:r>
          </a:p>
        </p:txBody>
      </p:sp>
      <p:sp>
        <p:nvSpPr>
          <p:cNvPr id="3" name="TextBox 2"/>
          <p:cNvSpPr txBox="1"/>
          <p:nvPr/>
        </p:nvSpPr>
        <p:spPr>
          <a:xfrm>
            <a:off x="457200" y="914400"/>
            <a:ext cx="8229600" cy="5303520"/>
          </a:xfrm>
          <a:prstGeom prst="rect">
            <a:avLst/>
          </a:prstGeom>
          <a:noFill/>
        </p:spPr>
        <p:txBody>
          <a:bodyPr wrap="square">
            <a:spAutoFit/>
          </a:bodyPr>
          <a:lstStyle/>
          <a:p>
            <a:pPr>
              <a:spcAft>
                <a:spcPts val="1000"/>
              </a:spcAft>
              <a:defRPr sz="1400">
                <a:solidFill>
                  <a:srgbClr val="333333"/>
                </a:solidFill>
              </a:defRPr>
            </a:pPr>
            <a:r>
              <a:t>The Armstrong Institute article makes a remarkable historical argument about what happened after the battle. Shortly after this period in history, the Elamite empire collapsed. Larsa was conquered. The Hittite world was destabilised. And the Amorites — the very people among whom Abraham lived and, in whose territory, Chedorlaomer had attacked — rose to become the new dominant power of Mesopotamia under Hammurabi.</a:t>
            </a:r>
          </a:p>
          <a:p>
            <a:pPr>
              <a:spcAft>
                <a:spcPts val="1000"/>
              </a:spcAft>
              <a:defRPr sz="1400">
                <a:solidFill>
                  <a:srgbClr val="333333"/>
                </a:solidFill>
              </a:defRPr>
            </a:pPr>
            <a:r>
              <a:t>The author asks whether Abraham's humiliation of Elam in the Levant may have been the event that tipped the balance — weakening Chedorlaomer's prestige and authority enough that Hammurabi and the Amorites were able to overthrow Elam and Larsa and establish the Babylonian empire.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TextBox 1"/>
          <p:cNvSpPr txBox="1"/>
          <p:nvPr/>
        </p:nvSpPr>
        <p:spPr>
          <a:xfrm>
            <a:off x="457200" y="2743200"/>
            <a:ext cx="8229600" cy="1371600"/>
          </a:xfrm>
          <a:prstGeom prst="rect">
            <a:avLst/>
          </a:prstGeom>
          <a:noFill/>
        </p:spPr>
        <p:txBody>
          <a:bodyPr wrap="none">
            <a:spAutoFit/>
          </a:bodyPr>
          <a:lstStyle/>
          <a:p>
            <a:pPr algn="ctr">
              <a:defRPr sz="3200" b="1">
                <a:solidFill>
                  <a:srgbClr val="FFFFFF"/>
                </a:solidFill>
              </a:defRPr>
            </a:pPr>
            <a:r>
              <a:t>Five Deep Links and Promises</a:t>
            </a:r>
            <a:br/>
            <a:r>
              <a:t>made by God in Zechariah 2:8-9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Link 1 — The Same Hand</a:t>
            </a:r>
          </a:p>
        </p:txBody>
      </p:sp>
      <p:sp>
        <p:nvSpPr>
          <p:cNvPr id="3" name="TextBox 2"/>
          <p:cNvSpPr txBox="1"/>
          <p:nvPr/>
        </p:nvSpPr>
        <p:spPr>
          <a:xfrm>
            <a:off x="457200" y="914400"/>
            <a:ext cx="8229600" cy="2286000"/>
          </a:xfrm>
          <a:prstGeom prst="rect">
            <a:avLst/>
          </a:prstGeom>
          <a:noFill/>
        </p:spPr>
        <p:txBody>
          <a:bodyPr wrap="square">
            <a:spAutoFit/>
          </a:bodyPr>
          <a:lstStyle/>
          <a:p>
            <a:pPr>
              <a:spcAft>
                <a:spcPts val="800"/>
              </a:spcAft>
              <a:defRPr sz="1500" i="1">
                <a:solidFill>
                  <a:srgbClr val="2E5A88"/>
                </a:solidFill>
              </a:defRPr>
            </a:pPr>
            <a:r>
              <a:t>Genesis 14 — God delivered the enemies into Abraham's hand. Melchizedek specifically used the word hand: "delivered your enemies into your hand."</a:t>
            </a:r>
          </a:p>
          <a:p>
            <a:pPr>
              <a:spcAft>
                <a:spcPts val="800"/>
              </a:spcAft>
              <a:defRPr sz="1500" i="1">
                <a:solidFill>
                  <a:srgbClr val="2E5A88"/>
                </a:solidFill>
              </a:defRPr>
            </a:pPr>
            <a:r>
              <a:t>Zechariah 2:9 — God says "I will shake my hand over them." His hand moves — and the result is the enemy becomes plunder.</a:t>
            </a:r>
          </a:p>
        </p:txBody>
      </p:sp>
      <p:sp>
        <p:nvSpPr>
          <p:cNvPr id="4" name="TextBox 3"/>
          <p:cNvSpPr txBox="1"/>
          <p:nvPr/>
        </p:nvSpPr>
        <p:spPr>
          <a:xfrm>
            <a:off x="457200" y="3291840"/>
            <a:ext cx="8229600" cy="2743200"/>
          </a:xfrm>
          <a:prstGeom prst="rect">
            <a:avLst/>
          </a:prstGeom>
          <a:noFill/>
        </p:spPr>
        <p:txBody>
          <a:bodyPr wrap="square">
            <a:spAutoFit/>
          </a:bodyPr>
          <a:lstStyle/>
          <a:p>
            <a:pPr>
              <a:spcAft>
                <a:spcPts val="600"/>
              </a:spcAft>
              <a:defRPr sz="1400">
                <a:solidFill>
                  <a:srgbClr val="8B4513"/>
                </a:solidFill>
              </a:defRPr>
            </a:pPr>
            <a:r>
              <a:t>Tamil – Genesis 14:20 (20 உன் சத்துருக்களை உன் கையில் ஒப்புக்கொடுத்த உன்னதமான தேவனுக்கு ஸ்தோத்திரம் என்று சொன்னான். இவனுக்கு ஆபிராம் எல்லாவற்றிலும் தசமபாகம் கொடுத்தான்.)</a:t>
            </a:r>
          </a:p>
          <a:p>
            <a:pPr>
              <a:spcAft>
                <a:spcPts val="600"/>
              </a:spcAft>
              <a:defRPr sz="1400">
                <a:solidFill>
                  <a:srgbClr val="8B4513"/>
                </a:solidFill>
              </a:defRPr>
            </a:pPr>
            <a:r>
              <a:t>9 இதோ, நான் என் கையை அவர்களுக்கு விரோதமாக அசைப்பேன்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Link 1 — The Same Hand (continued)</a:t>
            </a:r>
          </a:p>
        </p:txBody>
      </p:sp>
      <p:sp>
        <p:nvSpPr>
          <p:cNvPr id="3" name="TextBox 2"/>
          <p:cNvSpPr txBox="1"/>
          <p:nvPr/>
        </p:nvSpPr>
        <p:spPr>
          <a:xfrm>
            <a:off x="457200" y="914400"/>
            <a:ext cx="8229600" cy="5303520"/>
          </a:xfrm>
          <a:prstGeom prst="rect">
            <a:avLst/>
          </a:prstGeom>
          <a:noFill/>
        </p:spPr>
        <p:txBody>
          <a:bodyPr wrap="square">
            <a:spAutoFit/>
          </a:bodyPr>
          <a:lstStyle/>
          <a:p>
            <a:pPr>
              <a:spcAft>
                <a:spcPts val="1000"/>
              </a:spcAft>
              <a:defRPr sz="1600">
                <a:solidFill>
                  <a:srgbClr val="333333"/>
                </a:solidFill>
              </a:defRPr>
            </a:pPr>
            <a:r>
              <a:t>In both texts, the hand is the instrument of reversal. In Genesis 14, God's hand works through Abraham's 318 men. In Zechariah 2:9, God shakes His own hand directly over the nations.</a:t>
            </a:r>
          </a:p>
          <a:p>
            <a:pPr>
              <a:spcAft>
                <a:spcPts val="1000"/>
              </a:spcAft>
              <a:defRPr sz="1600">
                <a:solidFill>
                  <a:srgbClr val="333333"/>
                </a:solidFill>
              </a:defRPr>
            </a:pPr>
            <a:r>
              <a:t>The progression is significant. In Genesis 14, God works through a human hand. In Zechariah 2:9, God acts with His own hand.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731520"/>
          </a:xfrm>
          <a:prstGeom prst="rect">
            <a:avLst/>
          </a:prstGeom>
          <a:noFill/>
        </p:spPr>
        <p:txBody>
          <a:bodyPr wrap="none">
            <a:spAutoFit/>
          </a:bodyPr>
          <a:lstStyle/>
          <a:p>
            <a:pPr>
              <a:defRPr sz="2400" b="1">
                <a:solidFill>
                  <a:srgbClr val="1A3A5C"/>
                </a:solidFill>
              </a:defRPr>
            </a:pPr>
            <a:r>
              <a:t>Link 2 — The Plunderer Becomes the Plundered</a:t>
            </a:r>
          </a:p>
        </p:txBody>
      </p:sp>
      <p:sp>
        <p:nvSpPr>
          <p:cNvPr id="3" name="TextBox 2"/>
          <p:cNvSpPr txBox="1"/>
          <p:nvPr/>
        </p:nvSpPr>
        <p:spPr>
          <a:xfrm>
            <a:off x="457200" y="1005840"/>
            <a:ext cx="8229600" cy="5303520"/>
          </a:xfrm>
          <a:prstGeom prst="rect">
            <a:avLst/>
          </a:prstGeom>
          <a:noFill/>
        </p:spPr>
        <p:txBody>
          <a:bodyPr wrap="square">
            <a:spAutoFit/>
          </a:bodyPr>
          <a:lstStyle/>
          <a:p>
            <a:pPr>
              <a:spcAft>
                <a:spcPts val="600"/>
              </a:spcAft>
              <a:defRPr sz="1400" b="0">
                <a:solidFill>
                  <a:srgbClr val="333333"/>
                </a:solidFill>
              </a:defRPr>
            </a:pPr>
            <a:r>
              <a:t>This is the most direct verbal connection between the two passages.</a:t>
            </a:r>
          </a:p>
          <a:p>
            <a:pPr>
              <a:spcAft>
                <a:spcPts val="600"/>
              </a:spcAft>
              <a:defRPr sz="1400" b="0">
                <a:solidFill>
                  <a:srgbClr val="333333"/>
                </a:solidFill>
              </a:defRPr>
            </a:pPr>
            <a:r>
              <a:t>Genesis 14 — Chedorlaomer's coalition plundered Sodom and took Lot captive. They were the powerful ones, the captors, the plunderers. Then Abraham came and reversed everything completely. The plunderers lost everything they had taken.</a:t>
            </a:r>
          </a:p>
          <a:p>
            <a:pPr>
              <a:spcAft>
                <a:spcPts val="600"/>
              </a:spcAft>
              <a:defRPr sz="1400" b="0">
                <a:solidFill>
                  <a:srgbClr val="333333"/>
                </a:solidFill>
              </a:defRPr>
            </a:pPr>
            <a:r>
              <a:t>Zechariah 2:9 — "They shall become plunder for those who served them."</a:t>
            </a:r>
          </a:p>
          <a:p>
            <a:pPr>
              <a:spcAft>
                <a:spcPts val="600"/>
              </a:spcAft>
              <a:defRPr sz="1400" b="0">
                <a:solidFill>
                  <a:srgbClr val="333333"/>
                </a:solidFill>
              </a:defRPr>
            </a:pPr>
            <a:r>
              <a:t>The ones who plundered Israel — Babylon, Persia, the nations — will themselves become plunder for those they once enslaved.</a:t>
            </a:r>
          </a:p>
          <a:p>
            <a:pPr>
              <a:spcAft>
                <a:spcPts val="600"/>
              </a:spcAft>
              <a:defRPr sz="1400" b="0">
                <a:solidFill>
                  <a:srgbClr val="333333"/>
                </a:solidFill>
              </a:defRPr>
            </a:pPr>
            <a:r>
              <a:t>This is not just a coincidence of language. It is the same divine principle operating at a larger scale.</a:t>
            </a:r>
          </a:p>
          <a:p>
            <a:pPr>
              <a:spcAft>
                <a:spcPts val="600"/>
              </a:spcAft>
              <a:defRPr sz="1400" b="0">
                <a:solidFill>
                  <a:srgbClr val="333333"/>
                </a:solidFill>
              </a:defRPr>
            </a:pPr>
            <a:r>
              <a:t>Abraham demonstrated in Genesis 14 what God declared He would do permanently in Zechariah 2:9. The small battle in the Valley of Siddim was a preview — a type — of God's permanent policy toward those who touch His people.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Link 3 — The Apple of His Eye Principle</a:t>
            </a:r>
          </a:p>
        </p:txBody>
      </p:sp>
      <p:sp>
        <p:nvSpPr>
          <p:cNvPr id="3" name="TextBox 2"/>
          <p:cNvSpPr txBox="1"/>
          <p:nvPr/>
        </p:nvSpPr>
        <p:spPr>
          <a:xfrm>
            <a:off x="457200" y="914400"/>
            <a:ext cx="8229600" cy="2286000"/>
          </a:xfrm>
          <a:prstGeom prst="rect">
            <a:avLst/>
          </a:prstGeom>
          <a:noFill/>
        </p:spPr>
        <p:txBody>
          <a:bodyPr wrap="square">
            <a:spAutoFit/>
          </a:bodyPr>
          <a:lstStyle/>
          <a:p>
            <a:pPr>
              <a:spcAft>
                <a:spcPts val="800"/>
              </a:spcAft>
              <a:defRPr sz="1500" i="1">
                <a:solidFill>
                  <a:srgbClr val="2E5A88"/>
                </a:solidFill>
              </a:defRPr>
            </a:pPr>
            <a:r>
              <a:t>Zechariah 2:8 — the verse immediately before your text — says:</a:t>
            </a:r>
          </a:p>
          <a:p>
            <a:pPr>
              <a:spcAft>
                <a:spcPts val="800"/>
              </a:spcAft>
              <a:defRPr sz="1500" i="1">
                <a:solidFill>
                  <a:srgbClr val="2E5A88"/>
                </a:solidFill>
              </a:defRPr>
            </a:pPr>
            <a:r>
              <a:t>"For thus said the Lord of hosts, after his glory sent me to the nations who plundered you, for he who touches you touches the apple of his eye."</a:t>
            </a:r>
          </a:p>
        </p:txBody>
      </p:sp>
      <p:sp>
        <p:nvSpPr>
          <p:cNvPr id="4" name="TextBox 3"/>
          <p:cNvSpPr txBox="1"/>
          <p:nvPr/>
        </p:nvSpPr>
        <p:spPr>
          <a:xfrm>
            <a:off x="457200" y="3291840"/>
            <a:ext cx="8229600" cy="2743200"/>
          </a:xfrm>
          <a:prstGeom prst="rect">
            <a:avLst/>
          </a:prstGeom>
          <a:noFill/>
        </p:spPr>
        <p:txBody>
          <a:bodyPr wrap="square">
            <a:spAutoFit/>
          </a:bodyPr>
          <a:lstStyle/>
          <a:p>
            <a:pPr>
              <a:spcAft>
                <a:spcPts val="600"/>
              </a:spcAft>
              <a:defRPr sz="1400">
                <a:solidFill>
                  <a:srgbClr val="8B4513"/>
                </a:solidFill>
              </a:defRPr>
            </a:pPr>
            <a:r>
              <a:t>உங்களைத் தொடுகிறவன் அவருடைய கண்மணியைத் தொடுகிறான்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Link 3 — The Apple of His Eye (continued)</a:t>
            </a:r>
          </a:p>
        </p:txBody>
      </p:sp>
      <p:sp>
        <p:nvSpPr>
          <p:cNvPr id="3" name="TextBox 2"/>
          <p:cNvSpPr txBox="1"/>
          <p:nvPr/>
        </p:nvSpPr>
        <p:spPr>
          <a:xfrm>
            <a:off x="457200" y="914400"/>
            <a:ext cx="8229600" cy="5303520"/>
          </a:xfrm>
          <a:prstGeom prst="rect">
            <a:avLst/>
          </a:prstGeom>
          <a:noFill/>
        </p:spPr>
        <p:txBody>
          <a:bodyPr wrap="square">
            <a:spAutoFit/>
          </a:bodyPr>
          <a:lstStyle/>
          <a:p>
            <a:pPr>
              <a:spcAft>
                <a:spcPts val="1000"/>
              </a:spcAft>
              <a:defRPr sz="1600">
                <a:solidFill>
                  <a:srgbClr val="333333"/>
                </a:solidFill>
              </a:defRPr>
            </a:pPr>
            <a:r>
              <a:t>God was already operating the Zechariah 2:8-9 principle in Genesis 14 — He just had not put it into words yet.</a:t>
            </a:r>
          </a:p>
          <a:p>
            <a:pPr>
              <a:spcAft>
                <a:spcPts val="1000"/>
              </a:spcAft>
              <a:defRPr sz="1600">
                <a:solidFill>
                  <a:srgbClr val="333333"/>
                </a:solidFill>
              </a:defRPr>
            </a:pPr>
            <a:r>
              <a:t>Every time a nation touched Abraham's household, they touched the apple of God's eye. God's hand shook — and they became plunder.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Link 4 — "You Shall Know" — The Authenticating Moment</a:t>
            </a:r>
          </a:p>
        </p:txBody>
      </p:sp>
      <p:sp>
        <p:nvSpPr>
          <p:cNvPr id="3" name="TextBox 2"/>
          <p:cNvSpPr txBox="1"/>
          <p:nvPr/>
        </p:nvSpPr>
        <p:spPr>
          <a:xfrm>
            <a:off x="457200" y="914400"/>
            <a:ext cx="8229600" cy="2286000"/>
          </a:xfrm>
          <a:prstGeom prst="rect">
            <a:avLst/>
          </a:prstGeom>
          <a:noFill/>
        </p:spPr>
        <p:txBody>
          <a:bodyPr wrap="square">
            <a:spAutoFit/>
          </a:bodyPr>
          <a:lstStyle/>
          <a:p>
            <a:pPr>
              <a:spcAft>
                <a:spcPts val="800"/>
              </a:spcAft>
              <a:defRPr sz="1500" i="1">
                <a:solidFill>
                  <a:srgbClr val="2E5A88"/>
                </a:solidFill>
              </a:defRPr>
            </a:pPr>
            <a:r>
              <a:t>Zechariah 2:9 ends with: "Then you will know that the Lord of hosts has sent me."</a:t>
            </a:r>
          </a:p>
          <a:p>
            <a:pPr>
              <a:spcAft>
                <a:spcPts val="800"/>
              </a:spcAft>
              <a:defRPr sz="1500" i="1">
                <a:solidFill>
                  <a:srgbClr val="2E5A88"/>
                </a:solidFill>
              </a:defRPr>
            </a:pPr>
            <a:r>
              <a:t>Every time God fights, He is also revealing Himself. The battle is not just military — it is theological.</a:t>
            </a:r>
          </a:p>
        </p:txBody>
      </p:sp>
      <p:sp>
        <p:nvSpPr>
          <p:cNvPr id="4" name="TextBox 3"/>
          <p:cNvSpPr txBox="1"/>
          <p:nvPr/>
        </p:nvSpPr>
        <p:spPr>
          <a:xfrm>
            <a:off x="457200" y="3291840"/>
            <a:ext cx="8229600" cy="2743200"/>
          </a:xfrm>
          <a:prstGeom prst="rect">
            <a:avLst/>
          </a:prstGeom>
          <a:noFill/>
        </p:spPr>
        <p:txBody>
          <a:bodyPr wrap="square">
            <a:spAutoFit/>
          </a:bodyPr>
          <a:lstStyle/>
          <a:p>
            <a:pPr>
              <a:spcAft>
                <a:spcPts val="600"/>
              </a:spcAft>
              <a:defRPr sz="1400">
                <a:solidFill>
                  <a:srgbClr val="8B4513"/>
                </a:solidFill>
              </a:defRPr>
            </a:pPr>
            <a:r>
              <a:t>அப்பொழுது சேனைகளின் கர்த்தர் என்னை அனுப்பினாரென்று அறிவீர்கள்</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TextBox 1"/>
          <p:cNvSpPr txBox="1"/>
          <p:nvPr/>
        </p:nvSpPr>
        <p:spPr>
          <a:xfrm>
            <a:off x="457200" y="2743200"/>
            <a:ext cx="8229600" cy="1371600"/>
          </a:xfrm>
          <a:prstGeom prst="rect">
            <a:avLst/>
          </a:prstGeom>
          <a:noFill/>
        </p:spPr>
        <p:txBody>
          <a:bodyPr wrap="none">
            <a:spAutoFit/>
          </a:bodyPr>
          <a:lstStyle/>
          <a:p>
            <a:pPr algn="ctr">
              <a:defRPr sz="3200" b="1">
                <a:solidFill>
                  <a:srgbClr val="FFFFFF"/>
                </a:solidFill>
              </a:defRPr>
            </a:pPr>
            <a:r>
              <a:t>What We Must Do For God</a:t>
            </a:r>
            <a:br/>
            <a:r>
              <a:t>to Lead the Battle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Exodus 14:14</a:t>
            </a:r>
          </a:p>
        </p:txBody>
      </p:sp>
      <p:sp>
        <p:nvSpPr>
          <p:cNvPr id="3" name="TextBox 2"/>
          <p:cNvSpPr txBox="1"/>
          <p:nvPr/>
        </p:nvSpPr>
        <p:spPr>
          <a:xfrm>
            <a:off x="457200" y="914400"/>
            <a:ext cx="8229600" cy="2286000"/>
          </a:xfrm>
          <a:prstGeom prst="rect">
            <a:avLst/>
          </a:prstGeom>
          <a:noFill/>
        </p:spPr>
        <p:txBody>
          <a:bodyPr wrap="square">
            <a:spAutoFit/>
          </a:bodyPr>
          <a:lstStyle/>
          <a:p>
            <a:pPr>
              <a:spcAft>
                <a:spcPts val="800"/>
              </a:spcAft>
              <a:defRPr sz="1500" i="1">
                <a:solidFill>
                  <a:srgbClr val="2E5A88"/>
                </a:solidFill>
              </a:defRPr>
            </a:pPr>
            <a:r>
              <a:t>"The Lord will fight for you — you need only to be still."</a:t>
            </a:r>
          </a:p>
        </p:txBody>
      </p:sp>
      <p:sp>
        <p:nvSpPr>
          <p:cNvPr id="4" name="TextBox 3"/>
          <p:cNvSpPr txBox="1"/>
          <p:nvPr/>
        </p:nvSpPr>
        <p:spPr>
          <a:xfrm>
            <a:off x="457200" y="3291840"/>
            <a:ext cx="8229600" cy="2743200"/>
          </a:xfrm>
          <a:prstGeom prst="rect">
            <a:avLst/>
          </a:prstGeom>
          <a:noFill/>
        </p:spPr>
        <p:txBody>
          <a:bodyPr wrap="square">
            <a:spAutoFit/>
          </a:bodyPr>
          <a:lstStyle/>
          <a:p>
            <a:pPr>
              <a:spcAft>
                <a:spcPts val="600"/>
              </a:spcAft>
              <a:defRPr sz="1400">
                <a:solidFill>
                  <a:srgbClr val="8B4513"/>
                </a:solidFill>
              </a:defRPr>
            </a:pPr>
            <a:r>
              <a:t>யாத்திராகமம் 14:14</a:t>
            </a:r>
          </a:p>
          <a:p>
            <a:pPr>
              <a:spcAft>
                <a:spcPts val="600"/>
              </a:spcAft>
              <a:defRPr sz="1400">
                <a:solidFill>
                  <a:srgbClr val="8B4513"/>
                </a:solidFill>
              </a:defRPr>
            </a:pPr>
            <a:r>
              <a:t>கர்த்தர் உங்களுக்காக யுத்தம் பண்ணுவார்; நீங்கள் சும்மாயிருப்பீர்கள் என்றான்.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What we must do for the Zech 2:8-9 to be fulfilled in our life</a:t>
            </a:r>
          </a:p>
        </p:txBody>
      </p:sp>
      <p:sp>
        <p:nvSpPr>
          <p:cNvPr id="3" name="TextBox 2"/>
          <p:cNvSpPr txBox="1"/>
          <p:nvPr/>
        </p:nvSpPr>
        <p:spPr>
          <a:xfrm>
            <a:off x="457200" y="914400"/>
            <a:ext cx="8229600" cy="5303520"/>
          </a:xfrm>
          <a:prstGeom prst="rect">
            <a:avLst/>
          </a:prstGeom>
          <a:noFill/>
        </p:spPr>
        <p:txBody>
          <a:bodyPr wrap="square">
            <a:spAutoFit/>
          </a:bodyPr>
          <a:lstStyle/>
          <a:p>
            <a:pPr>
              <a:spcAft>
                <a:spcPts val="1000"/>
              </a:spcAft>
              <a:defRPr sz="1600">
                <a:solidFill>
                  <a:srgbClr val="333333"/>
                </a:solidFill>
              </a:defRPr>
            </a:pPr>
            <a:r>
              <a:t>Be Still means not to relay on yourselves, Not to Trust you but put full trust in God.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731520"/>
          </a:xfrm>
          <a:prstGeom prst="rect">
            <a:avLst/>
          </a:prstGeom>
          <a:noFill/>
        </p:spPr>
        <p:txBody>
          <a:bodyPr wrap="none">
            <a:spAutoFit/>
          </a:bodyPr>
          <a:lstStyle/>
          <a:p>
            <a:pPr>
              <a:defRPr sz="2400" b="1">
                <a:solidFill>
                  <a:srgbClr val="1A3A5C"/>
                </a:solidFill>
              </a:defRPr>
            </a:pPr>
            <a:r>
              <a:t>1. Acknowledge You Cannot Win Without Him</a:t>
            </a:r>
          </a:p>
        </p:txBody>
      </p:sp>
      <p:sp>
        <p:nvSpPr>
          <p:cNvPr id="3" name="TextBox 2"/>
          <p:cNvSpPr txBox="1"/>
          <p:nvPr/>
        </p:nvSpPr>
        <p:spPr>
          <a:xfrm>
            <a:off x="457200" y="1005840"/>
            <a:ext cx="8229600" cy="5303520"/>
          </a:xfrm>
          <a:prstGeom prst="rect">
            <a:avLst/>
          </a:prstGeom>
          <a:noFill/>
        </p:spPr>
        <p:txBody>
          <a:bodyPr wrap="square">
            <a:spAutoFit/>
          </a:bodyPr>
          <a:lstStyle/>
          <a:p>
            <a:pPr>
              <a:spcAft>
                <a:spcPts val="600"/>
              </a:spcAft>
              <a:defRPr sz="1300" b="0">
                <a:solidFill>
                  <a:srgbClr val="333333"/>
                </a:solidFill>
              </a:defRPr>
            </a:pPr>
            <a:r>
              <a:t>அவர் இல்லாமல் உங்களால் வெற்றி பெற முடியாது என்பதை ஒப்புக்கொள்ளுங்கள்.</a:t>
            </a:r>
          </a:p>
          <a:p>
            <a:pPr>
              <a:spcAft>
                <a:spcPts val="600"/>
              </a:spcAft>
              <a:defRPr sz="1300" b="0">
                <a:solidFill>
                  <a:srgbClr val="333333"/>
                </a:solidFill>
              </a:defRPr>
            </a:pPr>
          </a:p>
          <a:p>
            <a:pPr>
              <a:spcAft>
                <a:spcPts val="600"/>
              </a:spcAft>
              <a:defRPr sz="1300" b="0">
                <a:solidFill>
                  <a:srgbClr val="333333"/>
                </a:solidFill>
              </a:defRPr>
            </a:pPr>
            <a:r>
              <a:t>The First condition is always hard for the Strong people. The people who has more self confidence on themselves, Because these people feel that they can face any strong challenge without the need of others help (God's help)</a:t>
            </a:r>
          </a:p>
          <a:p>
            <a:pPr>
              <a:spcAft>
                <a:spcPts val="600"/>
              </a:spcAft>
              <a:defRPr sz="1300" b="0">
                <a:solidFill>
                  <a:srgbClr val="333333"/>
                </a:solidFill>
              </a:defRPr>
            </a:pPr>
            <a:r>
              <a:t>Gideon's 300 — God reduced the army deliberately so no one could say "my own strength saved me."</a:t>
            </a:r>
          </a:p>
          <a:p>
            <a:pPr>
              <a:spcAft>
                <a:spcPts val="600"/>
              </a:spcAft>
              <a:defRPr sz="1300" b="0">
                <a:solidFill>
                  <a:srgbClr val="333333"/>
                </a:solidFill>
              </a:defRPr>
            </a:pPr>
            <a:r>
              <a:t>Abharam 318 – God helped Abharam to destroy a skilled warrior and his allies</a:t>
            </a:r>
          </a:p>
          <a:p>
            <a:pPr>
              <a:spcAft>
                <a:spcPts val="600"/>
              </a:spcAft>
              <a:defRPr sz="1300" b="0">
                <a:solidFill>
                  <a:srgbClr val="333333"/>
                </a:solidFill>
              </a:defRPr>
            </a:pPr>
            <a:r>
              <a:t>Reality / Truth: The moment you say "I can handle this" — God steps back. The moment you say "I cannot handle this without You" — He steps forward.</a:t>
            </a:r>
          </a:p>
          <a:p>
            <a:pPr>
              <a:spcAft>
                <a:spcPts val="600"/>
              </a:spcAft>
              <a:defRPr sz="1300" b="0">
                <a:solidFill>
                  <a:srgbClr val="333333"/>
                </a:solidFill>
              </a:defRPr>
            </a:pPr>
            <a:r>
              <a:t>Practical Life:</a:t>
            </a:r>
          </a:p>
          <a:p>
            <a:pPr>
              <a:spcAft>
                <a:spcPts val="600"/>
              </a:spcAft>
              <a:defRPr sz="1300" b="0">
                <a:solidFill>
                  <a:srgbClr val="333333"/>
                </a:solidFill>
              </a:defRPr>
            </a:pPr>
            <a:r>
              <a:t>Before any battle — whether spiritual, financial, relational or physical — come to God with empty hands. Not with your plan for Him to bless. With your helplessness for Him to fill.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2. Seek God First — Before You Make a Single Move</a:t>
            </a:r>
          </a:p>
        </p:txBody>
      </p:sp>
      <p:sp>
        <p:nvSpPr>
          <p:cNvPr id="3" name="TextBox 2"/>
          <p:cNvSpPr txBox="1"/>
          <p:nvPr/>
        </p:nvSpPr>
        <p:spPr>
          <a:xfrm>
            <a:off x="457200" y="914400"/>
            <a:ext cx="8229600" cy="2286000"/>
          </a:xfrm>
          <a:prstGeom prst="rect">
            <a:avLst/>
          </a:prstGeom>
          <a:noFill/>
        </p:spPr>
        <p:txBody>
          <a:bodyPr wrap="square">
            <a:spAutoFit/>
          </a:bodyPr>
          <a:lstStyle/>
          <a:p>
            <a:pPr>
              <a:spcAft>
                <a:spcPts val="800"/>
              </a:spcAft>
              <a:defRPr sz="1500" i="1">
                <a:solidFill>
                  <a:srgbClr val="2E5A88"/>
                </a:solidFill>
              </a:defRPr>
            </a:pPr>
            <a:r>
              <a:t>God works in different ways so always ask the plan – Email draft should be God's words</a:t>
            </a:r>
          </a:p>
          <a:p>
            <a:pPr>
              <a:spcAft>
                <a:spcPts val="800"/>
              </a:spcAft>
              <a:defRPr sz="1500" i="1">
                <a:solidFill>
                  <a:srgbClr val="2E5A88"/>
                </a:solidFill>
              </a:defRPr>
            </a:pPr>
            <a:r>
              <a:t>This is the condition that Israel broke most often and paid for most severely.</a:t>
            </a:r>
          </a:p>
          <a:p>
            <a:pPr>
              <a:spcAft>
                <a:spcPts val="800"/>
              </a:spcAft>
              <a:defRPr sz="1500" i="1">
                <a:solidFill>
                  <a:srgbClr val="2E5A88"/>
                </a:solidFill>
              </a:defRPr>
            </a:pPr>
          </a:p>
          <a:p>
            <a:pPr>
              <a:spcAft>
                <a:spcPts val="800"/>
              </a:spcAft>
              <a:defRPr sz="1500" i="1">
                <a:solidFill>
                  <a:srgbClr val="2E5A88"/>
                </a:solidFill>
              </a:defRPr>
            </a:pPr>
            <a:r>
              <a:t>2 Samuel 5:19</a:t>
            </a:r>
          </a:p>
          <a:p>
            <a:pPr>
              <a:spcAft>
                <a:spcPts val="800"/>
              </a:spcAft>
              <a:defRPr sz="1500" i="1">
                <a:solidFill>
                  <a:srgbClr val="2E5A88"/>
                </a:solidFill>
              </a:defRPr>
            </a:pPr>
            <a:r>
              <a:t>so David inquired of the Lord, "Shall I go and attack the Philistines? Will you deliver them into my hands?"</a:t>
            </a:r>
          </a:p>
          <a:p>
            <a:pPr>
              <a:spcAft>
                <a:spcPts val="800"/>
              </a:spcAft>
              <a:defRPr sz="1500" i="1">
                <a:solidFill>
                  <a:srgbClr val="2E5A88"/>
                </a:solidFill>
              </a:defRPr>
            </a:pPr>
            <a:r>
              <a:t>The Lord answered him, "Go, for I will surely deliver the Philistines into your hands."</a:t>
            </a:r>
          </a:p>
          <a:p>
            <a:pPr>
              <a:spcAft>
                <a:spcPts val="800"/>
              </a:spcAft>
              <a:defRPr sz="1500" i="1">
                <a:solidFill>
                  <a:srgbClr val="2E5A88"/>
                </a:solidFill>
              </a:defRPr>
            </a:pPr>
          </a:p>
          <a:p>
            <a:pPr>
              <a:spcAft>
                <a:spcPts val="800"/>
              </a:spcAft>
              <a:defRPr sz="1500" i="1">
                <a:solidFill>
                  <a:srgbClr val="2E5A88"/>
                </a:solidFill>
              </a:defRPr>
            </a:pPr>
            <a:r>
              <a:t>2 Samuel 5:23</a:t>
            </a:r>
          </a:p>
          <a:p>
            <a:pPr>
              <a:spcAft>
                <a:spcPts val="800"/>
              </a:spcAft>
              <a:defRPr sz="1500" i="1">
                <a:solidFill>
                  <a:srgbClr val="2E5A88"/>
                </a:solidFill>
              </a:defRPr>
            </a:pPr>
            <a:r>
              <a:t>David inquired of the Lord, and he answered, "Do not go straight up, but circle around behind them and attack them in front of the poplar trees."</a:t>
            </a:r>
          </a:p>
        </p:txBody>
      </p:sp>
      <p:sp>
        <p:nvSpPr>
          <p:cNvPr id="4" name="TextBox 3"/>
          <p:cNvSpPr txBox="1"/>
          <p:nvPr/>
        </p:nvSpPr>
        <p:spPr>
          <a:xfrm>
            <a:off x="457200" y="3291840"/>
            <a:ext cx="8229600" cy="2743200"/>
          </a:xfrm>
          <a:prstGeom prst="rect">
            <a:avLst/>
          </a:prstGeom>
          <a:noFill/>
        </p:spPr>
        <p:txBody>
          <a:bodyPr wrap="square">
            <a:spAutoFit/>
          </a:bodyPr>
          <a:lstStyle/>
          <a:p>
            <a:pPr>
              <a:spcAft>
                <a:spcPts val="600"/>
              </a:spcAft>
              <a:defRPr sz="1400">
                <a:solidFill>
                  <a:srgbClr val="8B4513"/>
                </a:solidFill>
              </a:defRPr>
            </a:pPr>
            <a:r>
              <a:t>பெலிஸ்தருக்கு விரோதமாய்ப்போகலாமா, அவர்களை என் கையில் ஒப்புக்கொடுப்பீரா என்று தாவீது கர்த்தரிடத்தில் விசாரித்தபோது, கர்த்தர்: போ, பெலிஸ்தரை உன் கையில் நிச்சயமாய் ஒப்புக்கொடுப்பேன் என்று தாவீதுக்குச் சொன்னார்.</a:t>
            </a:r>
          </a:p>
          <a:p>
            <a:pPr>
              <a:spcAft>
                <a:spcPts val="600"/>
              </a:spcAft>
              <a:defRPr sz="1400">
                <a:solidFill>
                  <a:srgbClr val="8B4513"/>
                </a:solidFill>
              </a:defRPr>
            </a:pPr>
            <a:r>
              <a:t>23 தாவீது கர்த்தரிடத்தில் விசாரித்ததற்கு, அவர்: நீ நேராய்ப் போகாமல், அவர்களுக்குப் பின்னாலே சுற்றி, முசுக்கட்டைச் செடிகளுக்கு எதிரேயிருந்து, அவர்கள்மேல் பாய்ந்து,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2. Seek God First (continued)</a:t>
            </a:r>
          </a:p>
        </p:txBody>
      </p:sp>
      <p:sp>
        <p:nvSpPr>
          <p:cNvPr id="3" name="TextBox 2"/>
          <p:cNvSpPr txBox="1"/>
          <p:nvPr/>
        </p:nvSpPr>
        <p:spPr>
          <a:xfrm>
            <a:off x="457200" y="914400"/>
            <a:ext cx="8229600" cy="5303520"/>
          </a:xfrm>
          <a:prstGeom prst="rect">
            <a:avLst/>
          </a:prstGeom>
          <a:noFill/>
        </p:spPr>
        <p:txBody>
          <a:bodyPr wrap="square">
            <a:spAutoFit/>
          </a:bodyPr>
          <a:lstStyle/>
          <a:p>
            <a:pPr>
              <a:spcAft>
                <a:spcPts val="1000"/>
              </a:spcAft>
              <a:defRPr sz="1500">
                <a:solidFill>
                  <a:srgbClr val="333333"/>
                </a:solidFill>
              </a:defRPr>
            </a:pPr>
            <a:r>
              <a:t>Different strategy, same enemy, same God — because David asked again instead of assuming.</a:t>
            </a:r>
          </a:p>
          <a:p>
            <a:pPr>
              <a:spcAft>
                <a:spcPts val="1000"/>
              </a:spcAft>
              <a:defRPr sz="1500">
                <a:solidFill>
                  <a:srgbClr val="333333"/>
                </a:solidFill>
              </a:defRPr>
            </a:pPr>
            <a:r>
              <a:t>Practical application:</a:t>
            </a:r>
          </a:p>
          <a:p>
            <a:pPr>
              <a:spcAft>
                <a:spcPts val="1000"/>
              </a:spcAft>
              <a:defRPr sz="1500">
                <a:solidFill>
                  <a:srgbClr val="333333"/>
                </a:solidFill>
              </a:defRPr>
            </a:pPr>
            <a:r>
              <a:t>Do not carry yesterday's answer into today's battle. Seek God fresh every time. What He said last year may not be what He is saying today. His strategy changes — His faithfulness does not.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3. Obey Exactly — Not Approximately</a:t>
            </a:r>
          </a:p>
        </p:txBody>
      </p:sp>
      <p:sp>
        <p:nvSpPr>
          <p:cNvPr id="3" name="TextBox 2"/>
          <p:cNvSpPr txBox="1"/>
          <p:nvPr/>
        </p:nvSpPr>
        <p:spPr>
          <a:xfrm>
            <a:off x="457200" y="914400"/>
            <a:ext cx="8229600" cy="2286000"/>
          </a:xfrm>
          <a:prstGeom prst="rect">
            <a:avLst/>
          </a:prstGeom>
          <a:noFill/>
        </p:spPr>
        <p:txBody>
          <a:bodyPr wrap="square">
            <a:spAutoFit/>
          </a:bodyPr>
          <a:lstStyle/>
          <a:p>
            <a:pPr>
              <a:spcAft>
                <a:spcPts val="800"/>
              </a:spcAft>
              <a:defRPr sz="1500" i="1">
                <a:solidFill>
                  <a:srgbClr val="2E5A88"/>
                </a:solidFill>
              </a:defRPr>
            </a:pPr>
            <a:r>
              <a:t>Naman Obeyed 100%!</a:t>
            </a:r>
          </a:p>
          <a:p>
            <a:pPr>
              <a:spcAft>
                <a:spcPts val="800"/>
              </a:spcAft>
              <a:defRPr sz="1500" i="1">
                <a:solidFill>
                  <a:srgbClr val="2E5A88"/>
                </a:solidFill>
              </a:defRPr>
            </a:pPr>
          </a:p>
          <a:p>
            <a:pPr>
              <a:spcAft>
                <a:spcPts val="800"/>
              </a:spcAft>
              <a:defRPr sz="1500" i="1">
                <a:solidFill>
                  <a:srgbClr val="2E5A88"/>
                </a:solidFill>
              </a:defRPr>
            </a:pPr>
            <a:r>
              <a:t>2 Kings 5:14:</a:t>
            </a:r>
          </a:p>
          <a:p>
            <a:pPr>
              <a:spcAft>
                <a:spcPts val="800"/>
              </a:spcAft>
              <a:defRPr sz="1500" i="1">
                <a:solidFill>
                  <a:srgbClr val="2E5A88"/>
                </a:solidFill>
              </a:defRPr>
            </a:pPr>
            <a:r>
              <a:t>14 So he went down and dipped himself in the Jordan seven times, as the man of God had told him, and his flesh was restored and became clean like that of a young boy.</a:t>
            </a:r>
          </a:p>
        </p:txBody>
      </p:sp>
      <p:sp>
        <p:nvSpPr>
          <p:cNvPr id="4" name="TextBox 3"/>
          <p:cNvSpPr txBox="1"/>
          <p:nvPr/>
        </p:nvSpPr>
        <p:spPr>
          <a:xfrm>
            <a:off x="457200" y="3291840"/>
            <a:ext cx="8229600" cy="2743200"/>
          </a:xfrm>
          <a:prstGeom prst="rect">
            <a:avLst/>
          </a:prstGeom>
          <a:noFill/>
        </p:spPr>
        <p:txBody>
          <a:bodyPr wrap="square">
            <a:spAutoFit/>
          </a:bodyPr>
          <a:lstStyle/>
          <a:p>
            <a:pPr>
              <a:spcAft>
                <a:spcPts val="600"/>
              </a:spcAft>
              <a:defRPr sz="1400">
                <a:solidFill>
                  <a:srgbClr val="8B4513"/>
                </a:solidFill>
              </a:defRPr>
            </a:pPr>
            <a:r>
              <a:t>14 அப்பொழுது அவன் இறங்கி, தேவனுடைய மனுஷன் வார்த்தையின்படியே யோர்தானில் ஏழுதரம் முழுகினபோது, அவன் மாம்சம் ஒரு சிறுபிள்ளையின் மாம்சத்தைப்போல மாறி, அவன் சுத்தமானான்.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731520"/>
          </a:xfrm>
          <a:prstGeom prst="rect">
            <a:avLst/>
          </a:prstGeom>
          <a:noFill/>
        </p:spPr>
        <p:txBody>
          <a:bodyPr wrap="none">
            <a:spAutoFit/>
          </a:bodyPr>
          <a:lstStyle/>
          <a:p>
            <a:pPr>
              <a:defRPr sz="2400" b="1">
                <a:solidFill>
                  <a:srgbClr val="1A3A5C"/>
                </a:solidFill>
              </a:defRPr>
            </a:pPr>
            <a:r>
              <a:t>3. Obey Exactly — Not Approximately (continued)</a:t>
            </a:r>
          </a:p>
        </p:txBody>
      </p:sp>
      <p:sp>
        <p:nvSpPr>
          <p:cNvPr id="3" name="TextBox 2"/>
          <p:cNvSpPr txBox="1"/>
          <p:nvPr/>
        </p:nvSpPr>
        <p:spPr>
          <a:xfrm>
            <a:off x="457200" y="1005840"/>
            <a:ext cx="8229600" cy="5303520"/>
          </a:xfrm>
          <a:prstGeom prst="rect">
            <a:avLst/>
          </a:prstGeom>
          <a:noFill/>
        </p:spPr>
        <p:txBody>
          <a:bodyPr wrap="square">
            <a:spAutoFit/>
          </a:bodyPr>
          <a:lstStyle/>
          <a:p>
            <a:pPr>
              <a:spcAft>
                <a:spcPts val="600"/>
              </a:spcAft>
              <a:defRPr sz="1400" b="0">
                <a:solidFill>
                  <a:srgbClr val="333333"/>
                </a:solidFill>
              </a:defRPr>
            </a:pPr>
            <a:r>
              <a:t>Naaman the leper — told to dip in the Jordan seven times. He dipped six times and came up still leprous. The seventh dip — full obedience — produced full healing.</a:t>
            </a:r>
          </a:p>
          <a:p>
            <a:pPr>
              <a:spcAft>
                <a:spcPts val="600"/>
              </a:spcAft>
              <a:defRPr sz="1400" b="0">
                <a:solidFill>
                  <a:srgbClr val="333333"/>
                </a:solidFill>
              </a:defRPr>
            </a:pPr>
          </a:p>
          <a:p>
            <a:pPr>
              <a:spcAft>
                <a:spcPts val="600"/>
              </a:spcAft>
              <a:defRPr sz="1400" b="0">
                <a:solidFill>
                  <a:srgbClr val="333333"/>
                </a:solidFill>
              </a:defRPr>
            </a:pPr>
            <a:r>
              <a:t>Dis-obeyed:</a:t>
            </a:r>
          </a:p>
          <a:p>
            <a:pPr>
              <a:spcAft>
                <a:spcPts val="600"/>
              </a:spcAft>
              <a:defRPr sz="1400" b="0">
                <a:solidFill>
                  <a:srgbClr val="333333"/>
                </a:solidFill>
              </a:defRPr>
            </a:pPr>
            <a:r>
              <a:t>Saul — told to completely destroy the Amalekites. He destroyed most of them and kept the king and best animals for what seemed like a good reason. God called it rebellion.</a:t>
            </a:r>
          </a:p>
          <a:p>
            <a:pPr>
              <a:spcAft>
                <a:spcPts val="600"/>
              </a:spcAft>
              <a:defRPr sz="1400" b="0">
                <a:solidFill>
                  <a:srgbClr val="333333"/>
                </a:solidFill>
              </a:defRPr>
            </a:pPr>
          </a:p>
          <a:p>
            <a:pPr>
              <a:spcAft>
                <a:spcPts val="600"/>
              </a:spcAft>
              <a:defRPr sz="1400" b="0">
                <a:solidFill>
                  <a:srgbClr val="333333"/>
                </a:solidFill>
              </a:defRPr>
            </a:pPr>
            <a:r>
              <a:t>The partial obedience of Saul cost him his kingdom. The complete obedience of Joshua gave him a nation.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731520"/>
          </a:xfrm>
          <a:prstGeom prst="rect">
            <a:avLst/>
          </a:prstGeom>
          <a:noFill/>
        </p:spPr>
        <p:txBody>
          <a:bodyPr wrap="none">
            <a:spAutoFit/>
          </a:bodyPr>
          <a:lstStyle/>
          <a:p>
            <a:pPr>
              <a:defRPr sz="2400" b="1">
                <a:solidFill>
                  <a:srgbClr val="1A3A5C"/>
                </a:solidFill>
              </a:defRPr>
            </a:pPr>
            <a:r>
              <a:t>4. Remove Sin From the Heart</a:t>
            </a:r>
          </a:p>
        </p:txBody>
      </p:sp>
      <p:sp>
        <p:nvSpPr>
          <p:cNvPr id="3" name="TextBox 2"/>
          <p:cNvSpPr txBox="1"/>
          <p:nvPr/>
        </p:nvSpPr>
        <p:spPr>
          <a:xfrm>
            <a:off x="457200" y="1005840"/>
            <a:ext cx="8229600" cy="5303520"/>
          </a:xfrm>
          <a:prstGeom prst="rect">
            <a:avLst/>
          </a:prstGeom>
          <a:noFill/>
        </p:spPr>
        <p:txBody>
          <a:bodyPr wrap="square">
            <a:spAutoFit/>
          </a:bodyPr>
          <a:lstStyle/>
          <a:p>
            <a:pPr>
              <a:spcAft>
                <a:spcPts val="600"/>
              </a:spcAft>
              <a:defRPr sz="1300" b="1">
                <a:solidFill>
                  <a:srgbClr val="1A3A5C"/>
                </a:solidFill>
              </a:defRPr>
            </a:pPr>
            <a:r>
              <a:t>The Sin of Achan:</a:t>
            </a:r>
          </a:p>
          <a:p>
            <a:pPr>
              <a:spcAft>
                <a:spcPts val="600"/>
              </a:spcAft>
              <a:defRPr sz="1300" b="1">
                <a:solidFill>
                  <a:srgbClr val="1A3A5C"/>
                </a:solidFill>
              </a:defRPr>
            </a:pPr>
            <a:r>
              <a:t>The Order of Events</a:t>
            </a:r>
          </a:p>
          <a:p>
            <a:pPr>
              <a:spcAft>
                <a:spcPts val="600"/>
              </a:spcAft>
              <a:defRPr sz="1300" b="0">
                <a:solidFill>
                  <a:srgbClr val="333333"/>
                </a:solidFill>
              </a:defRPr>
            </a:pPr>
            <a:r>
              <a:t>1. The Sin (Secret): Achan stole the forbidden items during the fall of Jericho and hid them under his tent (Joshua 6:27-7:1).</a:t>
            </a:r>
          </a:p>
          <a:p>
            <a:pPr>
              <a:spcAft>
                <a:spcPts val="600"/>
              </a:spcAft>
              <a:defRPr sz="1300" b="0">
                <a:solidFill>
                  <a:srgbClr val="333333"/>
                </a:solidFill>
              </a:defRPr>
            </a:pPr>
            <a:r>
              <a:t>2. The Battle (Public): Joshua, completely unaware of Achan's theft, sent the small army of 3,000 men to attack Ai (Joshua 7:2-4).</a:t>
            </a:r>
          </a:p>
          <a:p>
            <a:pPr>
              <a:spcAft>
                <a:spcPts val="600"/>
              </a:spcAft>
              <a:defRPr sz="1300" b="0">
                <a:solidFill>
                  <a:srgbClr val="333333"/>
                </a:solidFill>
              </a:defRPr>
            </a:pPr>
            <a:r>
              <a:t>3. The Defeat: The small army was routed, and 36 Israelite soldiers were killed (Joshua 7:4-5).</a:t>
            </a:r>
          </a:p>
          <a:p>
            <a:pPr>
              <a:spcAft>
                <a:spcPts val="600"/>
              </a:spcAft>
              <a:defRPr sz="1300" b="0">
                <a:solidFill>
                  <a:srgbClr val="333333"/>
                </a:solidFill>
              </a:defRPr>
            </a:pPr>
            <a:r>
              <a:t>4. The Revelation: Joshua wept and prayed to God, and only then did God reveal to him that someone in the camp had sinned (Joshua 7:10-11)</a:t>
            </a:r>
          </a:p>
          <a:p>
            <a:pPr>
              <a:spcAft>
                <a:spcPts val="600"/>
              </a:spcAft>
              <a:defRPr sz="1300" b="0">
                <a:solidFill>
                  <a:srgbClr val="333333"/>
                </a:solidFill>
              </a:defRPr>
            </a:pPr>
          </a:p>
          <a:p>
            <a:pPr>
              <a:spcAft>
                <a:spcPts val="600"/>
              </a:spcAft>
              <a:defRPr sz="1300" b="0">
                <a:solidFill>
                  <a:srgbClr val="333333"/>
                </a:solidFill>
              </a:defRPr>
            </a:pPr>
            <a:r>
              <a:t>God did not say "Achan has sinned." He said "Israel has sinned."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4. Remove Sin From the Heart (continued)</a:t>
            </a:r>
          </a:p>
        </p:txBody>
      </p:sp>
      <p:sp>
        <p:nvSpPr>
          <p:cNvPr id="3" name="TextBox 2"/>
          <p:cNvSpPr txBox="1"/>
          <p:nvPr/>
        </p:nvSpPr>
        <p:spPr>
          <a:xfrm>
            <a:off x="457200" y="914400"/>
            <a:ext cx="8229600" cy="5303520"/>
          </a:xfrm>
          <a:prstGeom prst="rect">
            <a:avLst/>
          </a:prstGeom>
          <a:noFill/>
        </p:spPr>
        <p:txBody>
          <a:bodyPr wrap="square">
            <a:spAutoFit/>
          </a:bodyPr>
          <a:lstStyle/>
          <a:p>
            <a:pPr>
              <a:spcAft>
                <a:spcPts val="1000"/>
              </a:spcAft>
              <a:defRPr sz="1600">
                <a:solidFill>
                  <a:srgbClr val="333333"/>
                </a:solidFill>
              </a:defRPr>
            </a:pPr>
            <a:r>
              <a:t>The Sin in our heart will not complete the Promised Verse for us:</a:t>
            </a:r>
          </a:p>
          <a:p>
            <a:pPr>
              <a:spcAft>
                <a:spcPts val="1000"/>
              </a:spcAft>
              <a:defRPr sz="1600">
                <a:solidFill>
                  <a:srgbClr val="333333"/>
                </a:solidFill>
              </a:defRPr>
            </a:pPr>
            <a:r>
              <a:t>Deal with these first. Do not go into battle carrying what will stop God's hand.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5. Praise God Before Not After (worship is the weapon)</a:t>
            </a:r>
          </a:p>
        </p:txBody>
      </p:sp>
      <p:sp>
        <p:nvSpPr>
          <p:cNvPr id="3" name="TextBox 2"/>
          <p:cNvSpPr txBox="1"/>
          <p:nvPr/>
        </p:nvSpPr>
        <p:spPr>
          <a:xfrm>
            <a:off x="457200" y="914400"/>
            <a:ext cx="8229600" cy="5303520"/>
          </a:xfrm>
          <a:prstGeom prst="rect">
            <a:avLst/>
          </a:prstGeom>
          <a:noFill/>
        </p:spPr>
        <p:txBody>
          <a:bodyPr wrap="square">
            <a:spAutoFit/>
          </a:bodyPr>
          <a:lstStyle/>
          <a:p>
            <a:pPr>
              <a:spcAft>
                <a:spcPts val="1000"/>
              </a:spcAft>
              <a:defRPr sz="1500">
                <a:solidFill>
                  <a:srgbClr val="333333"/>
                </a:solidFill>
              </a:defRPr>
            </a:pPr>
            <a:r>
              <a:t>Before the difficult meeting, before the medical procedure, before the financial crisis hearing, before the confrontation — worship first. Not as a formula but as a declaration that God is already Lord over what you are about to face.</a:t>
            </a:r>
          </a:p>
          <a:p>
            <a:pPr>
              <a:spcAft>
                <a:spcPts val="1000"/>
              </a:spcAft>
              <a:defRPr sz="1500">
                <a:solidFill>
                  <a:srgbClr val="333333"/>
                </a:solidFill>
              </a:defRPr>
            </a:pPr>
            <a:r>
              <a:t>We are declaring and stamping a statement that God is in Control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731520"/>
          </a:xfrm>
          <a:prstGeom prst="rect">
            <a:avLst/>
          </a:prstGeom>
          <a:noFill/>
        </p:spPr>
        <p:txBody>
          <a:bodyPr wrap="none">
            <a:spAutoFit/>
          </a:bodyPr>
          <a:lstStyle/>
          <a:p>
            <a:pPr>
              <a:defRPr sz="2400" b="1">
                <a:solidFill>
                  <a:srgbClr val="1A3A5C"/>
                </a:solidFill>
              </a:defRPr>
            </a:pPr>
            <a:r>
              <a:t>6. Give God the Glory — Before, During and After</a:t>
            </a:r>
          </a:p>
        </p:txBody>
      </p:sp>
      <p:sp>
        <p:nvSpPr>
          <p:cNvPr id="3" name="TextBox 2"/>
          <p:cNvSpPr txBox="1"/>
          <p:nvPr/>
        </p:nvSpPr>
        <p:spPr>
          <a:xfrm>
            <a:off x="457200" y="1005840"/>
            <a:ext cx="8229600" cy="5303520"/>
          </a:xfrm>
          <a:prstGeom prst="rect">
            <a:avLst/>
          </a:prstGeom>
          <a:noFill/>
        </p:spPr>
        <p:txBody>
          <a:bodyPr wrap="square">
            <a:spAutoFit/>
          </a:bodyPr>
          <a:lstStyle/>
          <a:p>
            <a:pPr>
              <a:spcAft>
                <a:spcPts val="600"/>
              </a:spcAft>
              <a:defRPr sz="1300" b="0">
                <a:solidFill>
                  <a:srgbClr val="333333"/>
                </a:solidFill>
              </a:defRPr>
            </a:pPr>
            <a:r>
              <a:t>After winning the battle of Genesis 14, the king of Sodom offered Abraham all the recovered goods. Abraham refused everything — not even a sandal strap. He said:</a:t>
            </a:r>
          </a:p>
          <a:p>
            <a:pPr>
              <a:spcAft>
                <a:spcPts val="600"/>
              </a:spcAft>
              <a:defRPr sz="1300" b="0">
                <a:solidFill>
                  <a:srgbClr val="333333"/>
                </a:solidFill>
              </a:defRPr>
            </a:pPr>
            <a:r>
              <a:t>"I have lifted my hand to the Lord, God Most High, that I would not take a thread or sandal strap lest you should say 'I have made Abraham rich.'"</a:t>
            </a:r>
          </a:p>
          <a:p>
            <a:pPr>
              <a:spcAft>
                <a:spcPts val="600"/>
              </a:spcAft>
              <a:defRPr sz="1300" b="0">
                <a:solidFill>
                  <a:srgbClr val="333333"/>
                </a:solidFill>
              </a:defRPr>
            </a:pPr>
            <a:r>
              <a:t>He protected the glory. He would not allow the king of Sodom to even partially claim credit for what God had done.</a:t>
            </a:r>
          </a:p>
          <a:p>
            <a:pPr>
              <a:spcAft>
                <a:spcPts val="600"/>
              </a:spcAft>
              <a:defRPr sz="1300" b="0">
                <a:solidFill>
                  <a:srgbClr val="333333"/>
                </a:solidFill>
              </a:defRPr>
            </a:pPr>
          </a:p>
          <a:p>
            <a:pPr>
              <a:spcAft>
                <a:spcPts val="600"/>
              </a:spcAft>
              <a:defRPr sz="1300" b="0">
                <a:solidFill>
                  <a:srgbClr val="333333"/>
                </a:solidFill>
              </a:defRPr>
            </a:pPr>
            <a:r>
              <a:t>When God gives you the victory, be careful how you speak about it. Do not say "I worked hard and it paid off." Do not say "I was wise enough to make the right decisions." Acknowledge God specifically and completely. The moment you absorb the glory that belongs to Him, you are positioning yourself for the next battle without His protection.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Conclusion</a:t>
            </a:r>
          </a:p>
        </p:txBody>
      </p:sp>
      <p:sp>
        <p:nvSpPr>
          <p:cNvPr id="3" name="TextBox 2"/>
          <p:cNvSpPr txBox="1"/>
          <p:nvPr/>
        </p:nvSpPr>
        <p:spPr>
          <a:xfrm>
            <a:off x="457200" y="914400"/>
            <a:ext cx="8229600" cy="2286000"/>
          </a:xfrm>
          <a:prstGeom prst="rect">
            <a:avLst/>
          </a:prstGeom>
          <a:noFill/>
        </p:spPr>
        <p:txBody>
          <a:bodyPr wrap="square">
            <a:spAutoFit/>
          </a:bodyPr>
          <a:lstStyle/>
          <a:p>
            <a:pPr>
              <a:spcAft>
                <a:spcPts val="800"/>
              </a:spcAft>
              <a:defRPr sz="1500" i="1">
                <a:solidFill>
                  <a:srgbClr val="2E5A88"/>
                </a:solidFill>
              </a:defRPr>
            </a:pPr>
            <a:r>
              <a:t>2 Chronicles 16:9</a:t>
            </a:r>
          </a:p>
          <a:p>
            <a:pPr>
              <a:spcAft>
                <a:spcPts val="800"/>
              </a:spcAft>
              <a:defRPr sz="1500" i="1">
                <a:solidFill>
                  <a:srgbClr val="2E5A88"/>
                </a:solidFill>
              </a:defRPr>
            </a:pPr>
            <a:r>
              <a:t>"For the eyes of the Lord range throughout the earth to strengthen those whose hearts are fully committed to him."</a:t>
            </a:r>
          </a:p>
        </p:txBody>
      </p:sp>
      <p:sp>
        <p:nvSpPr>
          <p:cNvPr id="4" name="TextBox 3"/>
          <p:cNvSpPr txBox="1"/>
          <p:nvPr/>
        </p:nvSpPr>
        <p:spPr>
          <a:xfrm>
            <a:off x="457200" y="3291840"/>
            <a:ext cx="8229600" cy="2743200"/>
          </a:xfrm>
          <a:prstGeom prst="rect">
            <a:avLst/>
          </a:prstGeom>
          <a:noFill/>
        </p:spPr>
        <p:txBody>
          <a:bodyPr wrap="square">
            <a:spAutoFit/>
          </a:bodyPr>
          <a:lstStyle/>
          <a:p>
            <a:pPr>
              <a:spcAft>
                <a:spcPts val="600"/>
              </a:spcAft>
              <a:defRPr sz="1400">
                <a:solidFill>
                  <a:srgbClr val="8B4513"/>
                </a:solidFill>
              </a:defRPr>
            </a:pPr>
            <a:r>
              <a:t>தம்மைப்பற்றி உத்தம இருதயத்தோடிருக்கிறவர்களுக்குத் தம்முடைய வல்லமையை விளங்கப்பண்ணும்படி, கர்த்தருடைய கண்கள் பூமியெங்கும் உலாவிக்கொண்டிருக்கிறது;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65760" y="274320"/>
            <a:ext cx="8412480" cy="640080"/>
          </a:xfrm>
          <a:prstGeom prst="rect">
            <a:avLst/>
          </a:prstGeom>
          <a:noFill/>
        </p:spPr>
        <p:txBody>
          <a:bodyPr wrap="none">
            <a:spAutoFit/>
          </a:bodyPr>
          <a:lstStyle/>
          <a:p>
            <a:pPr>
              <a:defRPr sz="2200" b="1">
                <a:solidFill>
                  <a:srgbClr val="1A3A5C"/>
                </a:solidFill>
              </a:defRPr>
            </a:pPr>
            <a:r>
              <a:t>Conclusion (continued)</a:t>
            </a:r>
          </a:p>
        </p:txBody>
      </p:sp>
      <p:sp>
        <p:nvSpPr>
          <p:cNvPr id="3" name="TextBox 2"/>
          <p:cNvSpPr txBox="1"/>
          <p:nvPr/>
        </p:nvSpPr>
        <p:spPr>
          <a:xfrm>
            <a:off x="457200" y="914400"/>
            <a:ext cx="8229600" cy="5303520"/>
          </a:xfrm>
          <a:prstGeom prst="rect">
            <a:avLst/>
          </a:prstGeom>
          <a:noFill/>
        </p:spPr>
        <p:txBody>
          <a:bodyPr wrap="square">
            <a:spAutoFit/>
          </a:bodyPr>
          <a:lstStyle/>
          <a:p>
            <a:pPr>
              <a:spcAft>
                <a:spcPts val="1000"/>
              </a:spcAft>
              <a:defRPr sz="1800">
                <a:solidFill>
                  <a:srgbClr val="333333"/>
                </a:solidFill>
              </a:defRPr>
            </a:pPr>
            <a:r>
              <a:t>He is looking. Right now. Not for the most talented, the most experienced, the most resourced. He is looking for the most surrendered — the one whose heart is fully His.</a:t>
            </a:r>
          </a:p>
          <a:p>
            <a:pPr>
              <a:spcAft>
                <a:spcPts val="1000"/>
              </a:spcAft>
              <a:defRPr sz="1800">
                <a:solidFill>
                  <a:srgbClr val="333333"/>
                </a:solidFill>
              </a:defRPr>
            </a:pPr>
            <a:r>
              <a:t>That is the condition. That is always the condition. And when He finds it — He fights.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